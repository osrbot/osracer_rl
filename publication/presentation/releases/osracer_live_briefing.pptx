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aac-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FAF9F6"/>
          </a:solidFill>
          <a:ln>
            <a:solidFill>
              <a:srgbClr val="FA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478BE"/>
                </a:solidFill>
                <a:latin typeface="Noto Sans CJK SC"/>
              </a:rPr>
              <a:t>OSRACER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577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91E26"/>
                </a:solidFill>
                <a:latin typeface="Noto Sans CJK SC"/>
              </a:rPr>
              <a:t>双引擎自主竞速
哪些已经被证实？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78608"/>
            <a:ext cx="5394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D6975"/>
                </a:solidFill>
                <a:latin typeface="Noto Sans CJK SC"/>
              </a:rPr>
              <a:t>OpenUSD/MuJoCo 资产可用性 · Ackermann 超车/圈速 · 180° 回头弯漂移边界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3840480"/>
            <a:ext cx="5166360" cy="1143000"/>
          </a:xfrm>
          <a:prstGeom prst="roundRect">
            <a:avLst/>
          </a:prstGeom>
          <a:solidFill>
            <a:srgbClr val="E8F0F7"/>
          </a:solidFill>
          <a:ln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4663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2B46"/>
                </a:solidFill>
                <a:latin typeface="Noto Sans CJK SC"/>
              </a:rPr>
              <a:t>原则：用原生录像、轨迹审计和失败对照说话
不把局部样例扩展成全条件结论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两个问题，三层结论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998E"/>
                </a:solidFill>
                <a:latin typeface="Noto Sans CJK SC"/>
              </a:rPr>
              <a:t>资产层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2651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OpenUSD / Isaac Sim 与 MuJoCo 已完成加载、渲染、短程步进与可解码录像。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D6975"/>
                </a:solidFill>
                <a:latin typeface="Noto Sans CJK SC"/>
              </a:rPr>
              <a:t>已证实范围 / 明确边界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6596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26771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478BE"/>
                </a:solidFill>
                <a:latin typeface="Noto Sans CJK SC"/>
              </a:rPr>
              <a:t>竞速层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2651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双引擎已跑出整圈、有效超车和速度榜；成绩按引擎、赛道、速度、种子分开统计。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D6975"/>
                </a:solidFill>
                <a:latin typeface="Noto Sans CJK SC"/>
              </a:rPr>
              <a:t>已证实范围 / 明确边界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96596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26771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D95A34"/>
                </a:solidFill>
                <a:latin typeface="Noto Sans CJK SC"/>
              </a:rPr>
              <a:t>实车等效层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2651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当前单电机四驱动作空间缺少后轮增速；现有漂移机制不能直接迁移。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434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D6975"/>
                </a:solidFill>
                <a:latin typeface="Noto Sans CJK SC"/>
              </a:rPr>
              <a:t>已证实范围 / 明确边界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13248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BE343A"/>
                </a:solidFill>
                <a:latin typeface="Noto Sans CJK SC"/>
              </a:rPr>
              <a:t>结论不是“都完成了”：资产可用性已完成；竞速能力部分完成；实车 180° 漂移尚未成立。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ASSET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导出的 OpenUSD 与 MuJoCo 资产：可用，但验收范围很窄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enusd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166360" cy="2907792"/>
          </a:xfrm>
          <a:prstGeom prst="rect">
            <a:avLst/>
          </a:prstGeom>
        </p:spPr>
      </p:pic>
      <p:pic>
        <p:nvPicPr>
          <p:cNvPr id="6" name="Picture 5" descr="mujoco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166360" cy="2907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01184"/>
            <a:ext cx="4937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12B46"/>
                </a:solidFill>
                <a:latin typeface="Noto Sans CJK SC"/>
              </a:rPr>
              <a:t>OpenUSD / Isaac Sim 6.0.1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75504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20 网格、10 刚体、9 物理关节、6 可动自由度；60 步 PhysX 状态有限。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01184"/>
            <a:ext cx="4937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12B46"/>
                </a:solidFill>
                <a:latin typeface="Noto Sans CJK SC"/>
              </a:rPr>
              <a:t>MuJoCo 3.10.0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175504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robot.xml / scene.xml 各 500 步、无数值警告；固定基座和执行器跟踪限制仍在。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70448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343A"/>
                </a:solidFill>
                <a:latin typeface="Noto Sans CJK SC"/>
              </a:rPr>
              <a:t>不能从这两段可用性视频推断可靠驾驶、物理保真或控制器质量。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ASSET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从 SolidWorks 到 URDF、OpenUSD 与 MJCF：导出不是黑箱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资产由 SolidWorks URDF Exporter Pro 导出。它减少描述资产的重复配置，但不会自动替代控制器、摩擦参数或目标仿真器验证。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514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998E"/>
                </a:solidFill>
                <a:latin typeface="Noto Sans CJK SC"/>
              </a:rPr>
              <a:t>多目标导出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620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ROS 1 / ROS 2 URDF
OpenUSD robot.usd
MuJoCo robot.xml / scene.xml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317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2514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478BE"/>
                </a:solidFill>
                <a:latin typeface="Noto Sans CJK SC"/>
              </a:rPr>
              <a:t>模型可审查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620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链接树、关节、坐标系
质量、质心、惯量与方向
导出报告保留诊断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1148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D95A34"/>
                </a:solidFill>
                <a:latin typeface="Noto Sans CJK SC"/>
              </a:rPr>
              <a:t>碰撞与规模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原语 / 包围盒 / 凸包 / 简化网格
分区 STL 与实测文件大小反馈
外观和碰撞可分开取舍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11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41148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2B46"/>
                </a:solidFill>
                <a:latin typeface="Noto Sans CJK SC"/>
              </a:rPr>
              <a:t>持续改进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622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共享命名与元数据持久化
旧配置迁移与单目标失败诊断
欢迎 Issue、建议、测试和代码贡献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715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2B46"/>
                </a:solidFill>
                <a:latin typeface="Noto Sans CJK SC"/>
              </a:rPr>
              <a:t>需要导出 OpenUSD、MJCF 或 URDF 做仿真时，欢迎试用：https://github.com/osrbot/solidworks_urdf_exporter_pro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EXPERIMENT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我们用受限的主动观测，而不是全局定位来闭环竞速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788920" cy="1691640"/>
          </a:xfrm>
          <a:prstGeom prst="roundRect">
            <a:avLst/>
          </a:prstGeom>
          <a:solidFill>
            <a:srgbClr val="EBF3F9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12B46"/>
                </a:solidFill>
                <a:latin typeface="Noto Sans CJK SC"/>
              </a:rPr>
              <a:t>15 Hz laser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423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1E26"/>
                </a:solidFill>
                <a:latin typeface="Noto Sans CJK SC"/>
              </a:rPr>
              <a:t>laser 坐标系
270° / 361 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965960"/>
            <a:ext cx="2788920" cy="1691640"/>
          </a:xfrm>
          <a:prstGeom prst="roundRect">
            <a:avLst/>
          </a:prstGeom>
          <a:solidFill>
            <a:srgbClr val="EBF3F9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2240280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12B46"/>
                </a:solidFill>
                <a:latin typeface="Noto Sans CJK SC"/>
              </a:rPr>
              <a:t>轮速 + 转角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651760"/>
            <a:ext cx="2423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1E26"/>
                </a:solidFill>
                <a:latin typeface="Noto Sans CJK SC"/>
              </a:rPr>
              <a:t>驱动状态与 Ackermann
转向几何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965960"/>
            <a:ext cx="2788920" cy="1691640"/>
          </a:xfrm>
          <a:prstGeom prst="roundRect">
            <a:avLst/>
          </a:prstGeom>
          <a:solidFill>
            <a:srgbClr val="EBF3F9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240280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12B46"/>
                </a:solidFill>
                <a:latin typeface="Noto Sans CJK SC"/>
              </a:rPr>
              <a:t>策略 + 安全层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51760"/>
            <a:ext cx="2423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1E26"/>
                </a:solidFill>
                <a:latin typeface="Noto Sans CJK SC"/>
              </a:rPr>
              <a:t>预测、超车、漂移
碰撞与出界许可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8716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478BE"/>
                </a:solidFill>
                <a:latin typeface="Noto Sans CJK S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48716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478BE"/>
                </a:solidFill>
                <a:latin typeface="Noto Sans CJK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233672"/>
            <a:ext cx="10186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双车闭环：有效整圈、完整超越、碰撞、出界、连续侧滑均进入同一验证口径。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782312"/>
            <a:ext cx="10186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不使用全局位置；录像、轨迹和独立审计必须相互对应。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通过不是跑起来：必须同时满足 5 个可审计条件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671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1305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有效整圈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完整回到终点且无判定失败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21305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有效超车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877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完整超越，不把名次抖动算进去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965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671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1" y="21305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连续漂移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5877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侧滑角与持续时间达标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673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7307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轨迹审计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独立校验每回合状态与统计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7673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7307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原生录像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879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同一标签下可解码、可回放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E343A"/>
                </a:solidFill>
                <a:latin typeface="Noto Sans CJK SC"/>
              </a:rPr>
              <a:t>“加载模型”“单个成功视频”或“测试通过”都不能替代整圈资格。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RACING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冻结 v10c：MuJoCo 24/24，Isaac 22/24；差异被保留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MuJoCo · 7.25 m/s · 24 赛道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16712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2167128"/>
            <a:ext cx="5029200" cy="201168"/>
          </a:xfrm>
          <a:prstGeom prst="rect">
            <a:avLst/>
          </a:prstGeom>
          <a:solidFill>
            <a:srgbClr val="00998E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12140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998E"/>
                </a:solidFill>
                <a:latin typeface="Noto Sans CJK SC"/>
              </a:rPr>
              <a:t>24/24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Isaac · 7.25 m/s · 24 赛道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85292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852928"/>
            <a:ext cx="4610100" cy="201168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80720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78BE"/>
                </a:solidFill>
                <a:latin typeface="Noto Sans CJK SC"/>
              </a:rPr>
              <a:t>22/24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2478BE"/>
                </a:solidFill>
                <a:latin typeface="Noto Sans CJK SC"/>
              </a:rPr>
              <a:t>174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已审计回合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00998E"/>
                </a:solidFill>
                <a:latin typeface="Noto Sans CJK SC"/>
              </a:rPr>
              <a:t>141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32511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任务成功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D95A34"/>
                </a:solidFill>
                <a:latin typeface="Noto Sans CJK SC"/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32511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同批双引擎录像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057400"/>
            <a:ext cx="2834640" cy="3154680"/>
          </a:xfrm>
          <a:prstGeom prst="roundRect">
            <a:avLst/>
          </a:prstGeom>
          <a:solidFill>
            <a:srgbClr val="FFF4F0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35915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D95A34"/>
                </a:solidFill>
                <a:latin typeface="Noto Sans CJK SC"/>
              </a:rPr>
              <a:t>Isaac 的两条失败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88036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862072"/>
            <a:ext cx="20482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Spa：起步车车接触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493008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474720"/>
            <a:ext cx="20482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Suzuka：桥面段车身失稳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34340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343A"/>
                </a:solidFill>
                <a:latin typeface="Noto Sans CJK SC"/>
              </a:rPr>
              <a:t>所以不能称 Isaac 全赛道完成。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LAP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9.0 m/s 刷新最快圈速，但 Isaac 的稳定性付出了代价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MuJoCo · 9.0 m/s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07568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2075688"/>
            <a:ext cx="5029200" cy="201168"/>
          </a:xfrm>
          <a:prstGeom prst="rect">
            <a:avLst/>
          </a:prstGeom>
          <a:solidFill>
            <a:srgbClr val="00998E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299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998E"/>
                </a:solidFill>
                <a:latin typeface="Noto Sans CJK SC"/>
              </a:rPr>
              <a:t>24/24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Isaac · 9.0 m/s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71576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715768"/>
            <a:ext cx="4190999" cy="201168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700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78BE"/>
                </a:solidFill>
                <a:latin typeface="Noto Sans CJK SC"/>
              </a:rPr>
              <a:t>20/24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00998E"/>
                </a:solidFill>
                <a:latin typeface="Noto Sans CJK SC"/>
              </a:rPr>
              <a:t>8.97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Mu 峰值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2478BE"/>
                </a:solidFill>
                <a:latin typeface="Noto Sans CJK SC"/>
              </a:rPr>
              <a:t>9.00–9.04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3367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Isaac 峰值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D95A34"/>
                </a:solidFill>
                <a:latin typeface="Noto Sans CJK SC"/>
              </a:rPr>
              <a:t>1.5–10.4%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23367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Mu 单圈加速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378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MuJoCo：24 条赛道均快于 7.25 m/s 基线。Isaac：20 条可比赛道均更快，但新增 Austin、Las Vegas 停滞，Spa/Suzuka 仍失败。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10378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E343A"/>
                </a:solidFill>
                <a:latin typeface="Noto Sans CJK SC"/>
              </a:rPr>
              <a:t>工程结论：共享冻结配置维持 7.25 m/s；9.0 m/s 是 MuJoCo 速度榜，不是跨引擎稳定配置。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OVERTAKE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主动超车已计入整圈资格，但只在明确的对手条件下成立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joco-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394960" cy="3154680"/>
          </a:xfrm>
          <a:prstGeom prst="rect">
            <a:avLst/>
          </a:prstGeom>
        </p:spPr>
      </p:pic>
      <p:pic>
        <p:nvPicPr>
          <p:cNvPr id="6" name="Picture 5" descr="isaac-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874519"/>
            <a:ext cx="534924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3892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998E"/>
                </a:solidFill>
                <a:latin typeface="Noto Sans CJK SC"/>
              </a:rPr>
              <a:t>MuJoCo Bahrain：代表样例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13892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Isaac Bahrain：代表样例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96128"/>
            <a:ext cx="10652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默认对手：同类传感器策略、巡航 2.8 m/s、发车领先 3 m。每条有效圈的“1 次”是完整超越，不代表对高速对手或任意初始位置的能力。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180° 回头弯：仿真有漂移样例，但当前实车等效动作空间不支持它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578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00998E"/>
                </a:solidFill>
                <a:latin typeface="Noto Sans CJK SC"/>
              </a:rPr>
              <a:t>27.0°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后轮增速 3.5：最大侧滑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BE343A"/>
                </a:solidFill>
                <a:latin typeface="Noto Sans CJK SC"/>
              </a:rPr>
              <a:t>4.36°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后轮增速 0：最大侧滑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290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1E26"/>
                </a:solidFill>
                <a:latin typeface="Noto Sans CJK SC"/>
              </a:rPr>
              <a:t>Interlagos A/B：0.133 s 漂移 → 0.0 s；当前策略的漂移 100% 来自后轮增速。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3" y="409651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这证实“在给定仿真执行器下”可做发卡弯漂移。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66344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3" y="464515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343A"/>
                </a:solidFill>
                <a:latin typeface="Noto Sans CJK SC"/>
              </a:rPr>
              <a:t>不证实单电机四驱实车能复现：其后轮增速等效为 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主动观测还不是鲁棒感知：组合扰动下 10/10 失败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tu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578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BE343A"/>
                </a:solidFill>
                <a:latin typeface="Noto Sans CJK SC"/>
              </a:rP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组合扰动失败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D95A34"/>
                </a:solidFill>
                <a:latin typeface="Noto Sans CJK SC"/>
              </a:rPr>
              <a:t>2.7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最早撞墙时间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7472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345643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条件：噪声 0.02 m + 丢束 5% + 延迟 50 ms；5 赛道 × 2 种子。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3" y="409651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消融：噪声单独可过；丢束或延迟单独已致命。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8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3" y="473659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343A"/>
                </a:solidFill>
                <a:latin typeface="Noto Sans CJK SC"/>
              </a:rPr>
              <a:t>根因：起步扫描匹配失败，进入 motion_estimate_unavailable 的盲车模式。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SIM-TO-REAL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实车路线先恢复可观测性，再谈极限操控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转向标定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舵机指令→左右轮实际角
含 Ackermann 差动、滞后、速率限幅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补转向反馈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电位计/绝对编码器
让安全前瞻使用实测转角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分级上线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shadow 回放→台架→低速→逐级提速
每级留 rosbag/日志/圈速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3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漂移动作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接受不漂移，或新增独立后轮/手刹，或重训制动转移行为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BE343A"/>
                </a:solidFill>
                <a:latin typeface="Noto Sans CJK SC"/>
              </a:rPr>
              <a:t>不要跳过阶段：两条“real”观测仿真初测有效，不等价于任何实车运行。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可交付的是可复现证据；未闭合的问题也已被清楚定位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017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134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998E"/>
                </a:solidFill>
                <a:latin typeface="Noto Sans CJK SC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423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资产加载/渲染/短程步进
双引擎录像与审计
Mu 24/24 整圈+超车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011680"/>
            <a:ext cx="3017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134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478BE"/>
                </a:solidFill>
                <a:latin typeface="Noto Sans CJK SC"/>
              </a:rPr>
              <a:t>部分完成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52928"/>
            <a:ext cx="2423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Isaac 22/24（7.25 m/s）
9.0 m/s 速度榜
留出种子证据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011680"/>
            <a:ext cx="3017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3134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D95A34"/>
                </a:solidFill>
                <a:latin typeface="Noto Sans CJK SC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852928"/>
            <a:ext cx="2423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扰动鲁棒扫描匹配
Isaac 桥接触 / 起步接触
转向反馈与漂移动作选择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12B46"/>
                </a:solidFill>
                <a:latin typeface="Noto Sans CJK SC"/>
              </a:rPr>
              <a:t>观看录像、复跑命令、结果口径：docs/RELEASE.md · docs/VALIDATION_STATUS.md · output/racing/media.html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谢谢。欢迎质疑结论，但请连同实验条件一起质疑。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