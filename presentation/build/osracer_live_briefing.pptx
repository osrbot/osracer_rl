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ahrain_c03v10c_dev24_see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0"/>
            <a:ext cx="565099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720840" cy="6858000"/>
          </a:xfrm>
          <a:prstGeom prst="rect">
            <a:avLst/>
          </a:prstGeom>
          <a:solidFill>
            <a:srgbClr val="FAF9F6"/>
          </a:solidFill>
          <a:ln>
            <a:solidFill>
              <a:srgbClr val="FAF9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2286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2478BE"/>
                </a:solidFill>
                <a:latin typeface="Noto Sans CJK SC"/>
              </a:rPr>
              <a:t>OSRACER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143000"/>
            <a:ext cx="557784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191E26"/>
                </a:solidFill>
                <a:latin typeface="Noto Sans CJK SC"/>
              </a:rPr>
              <a:t>双引擎自主竞速
哪些已经被证实？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2578608"/>
            <a:ext cx="53949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5D6975"/>
                </a:solidFill>
                <a:latin typeface="Noto Sans CJK SC"/>
              </a:rPr>
              <a:t>OpenUSD/MuJoCo 资产可用性 · Ackermann 超车/圈速 · 180° 回头弯漂移边界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3840480"/>
            <a:ext cx="5166360" cy="1143000"/>
          </a:xfrm>
          <a:prstGeom prst="roundRect">
            <a:avLst/>
          </a:prstGeom>
          <a:solidFill>
            <a:srgbClr val="E8F0F7"/>
          </a:solidFill>
          <a:ln>
            <a:solidFill>
              <a:srgbClr val="E8F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069080"/>
            <a:ext cx="46634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112B46"/>
                </a:solidFill>
                <a:latin typeface="Noto Sans CJK SC"/>
              </a:rPr>
              <a:t>原则：用原生录像、轨迹审计和失败对照说话
不把局部样例扩展成全条件结论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457200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5D6975"/>
                </a:solidFill>
                <a:latin typeface="Noto Sans CJK SC"/>
              </a:rPr>
              <a:t>OSRACER · 证据化直播材料  |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27432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>
                <a:solidFill>
                  <a:srgbClr val="2478BE"/>
                </a:solidFill>
                <a:latin typeface="Noto Sans CJK SC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9728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191E26"/>
                </a:solidFill>
                <a:latin typeface="Noto Sans CJK SC"/>
              </a:rPr>
              <a:t>两个问题，三层结论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72768"/>
            <a:ext cx="11155680" cy="22860"/>
          </a:xfrm>
          <a:prstGeom prst="rect">
            <a:avLst/>
          </a:prstGeom>
          <a:solidFill>
            <a:srgbClr val="2478BE"/>
          </a:solidFill>
          <a:ln>
            <a:solidFill>
              <a:srgbClr val="247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3154680" cy="2971800"/>
          </a:xfrm>
          <a:prstGeom prst="roundRect">
            <a:avLst/>
          </a:prstGeom>
          <a:solidFill>
            <a:srgbClr val="FFFFFF"/>
          </a:solidFill>
          <a:ln>
            <a:solidFill>
              <a:srgbClr val="009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267712"/>
            <a:ext cx="2651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00998E"/>
                </a:solidFill>
                <a:latin typeface="Noto Sans CJK SC"/>
              </a:rPr>
              <a:t>资产层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834640"/>
            <a:ext cx="265176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191E26"/>
                </a:solidFill>
                <a:latin typeface="Noto Sans CJK SC"/>
              </a:rPr>
              <a:t>OpenUSD / Isaac Sim 与 MuJoCo 已完成加载、渲染、短程步进与可解码录像。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343400"/>
            <a:ext cx="256032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5D6975"/>
                </a:solidFill>
                <a:latin typeface="Noto Sans CJK SC"/>
              </a:rPr>
              <a:t>已证实范围 / 明确边界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60520" y="1965960"/>
            <a:ext cx="3154680" cy="2971800"/>
          </a:xfrm>
          <a:prstGeom prst="roundRect">
            <a:avLst/>
          </a:prstGeom>
          <a:solidFill>
            <a:srgbClr val="FFFFFF"/>
          </a:solidFill>
          <a:ln>
            <a:solidFill>
              <a:srgbClr val="247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2267712"/>
            <a:ext cx="2651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2478BE"/>
                </a:solidFill>
                <a:latin typeface="Noto Sans CJK SC"/>
              </a:rPr>
              <a:t>竞速层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834640"/>
            <a:ext cx="265176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191E26"/>
                </a:solidFill>
                <a:latin typeface="Noto Sans CJK SC"/>
              </a:rPr>
              <a:t>双引擎已跑出整圈、有效超车和速度榜；成绩按引擎、赛道、速度、种子分开统计。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4343400"/>
            <a:ext cx="256032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5D6975"/>
                </a:solidFill>
                <a:latin typeface="Noto Sans CJK SC"/>
              </a:rPr>
              <a:t>已证实范围 / 明确边界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0" y="1965960"/>
            <a:ext cx="3154680" cy="2971800"/>
          </a:xfrm>
          <a:prstGeom prst="roundRect">
            <a:avLst/>
          </a:prstGeom>
          <a:solidFill>
            <a:srgbClr val="FFFFFF"/>
          </a:solidFill>
          <a:ln>
            <a:solidFill>
              <a:srgbClr val="D95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09560" y="2267712"/>
            <a:ext cx="2651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D95A34"/>
                </a:solidFill>
                <a:latin typeface="Noto Sans CJK SC"/>
              </a:rPr>
              <a:t>实车等效层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2834640"/>
            <a:ext cx="265176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191E26"/>
                </a:solidFill>
                <a:latin typeface="Noto Sans CJK SC"/>
              </a:rPr>
              <a:t>当前单电机四驱动作空间缺少后轮增速；现有漂移机制不能直接迁移。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4343400"/>
            <a:ext cx="256032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5D6975"/>
                </a:solidFill>
                <a:latin typeface="Noto Sans CJK SC"/>
              </a:rPr>
              <a:t>已证实范围 / 明确边界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413248"/>
            <a:ext cx="105156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1">
                <a:solidFill>
                  <a:srgbClr val="BE343A"/>
                </a:solidFill>
                <a:latin typeface="Noto Sans CJK SC"/>
              </a:rPr>
              <a:t>结论不是“都完成了”：资产可用性已完成；竞速能力部分完成；实车 180° 漂移尚未成立。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510528"/>
            <a:ext cx="457200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5D6975"/>
                </a:solidFill>
                <a:latin typeface="Noto Sans CJK SC"/>
              </a:rPr>
              <a:t>OSRACER · 证据化直播材料  |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27432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>
                <a:solidFill>
                  <a:srgbClr val="2478BE"/>
                </a:solidFill>
                <a:latin typeface="Noto Sans CJK SC"/>
              </a:rPr>
              <a:t>ASSET USABILITY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9728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191E26"/>
                </a:solidFill>
                <a:latin typeface="Noto Sans CJK SC"/>
              </a:rPr>
              <a:t>导出的 OpenUSD 与 MuJoCo 资产：可用，但验收范围很窄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72768"/>
            <a:ext cx="11155680" cy="22860"/>
          </a:xfrm>
          <a:prstGeom prst="rect">
            <a:avLst/>
          </a:prstGeom>
          <a:solidFill>
            <a:srgbClr val="2478BE"/>
          </a:solidFill>
          <a:ln>
            <a:solidFill>
              <a:srgbClr val="247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74519"/>
            <a:ext cx="5166360" cy="2907792"/>
          </a:xfrm>
          <a:prstGeom prst="rect">
            <a:avLst/>
          </a:prstGeom>
        </p:spPr>
      </p:pic>
      <p:pic>
        <p:nvPicPr>
          <p:cNvPr id="6" name="Picture 5" descr="preview_027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74519"/>
            <a:ext cx="5166360" cy="29077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4901184"/>
            <a:ext cx="493776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12B46"/>
                </a:solidFill>
                <a:latin typeface="Noto Sans CJK SC"/>
              </a:rPr>
              <a:t>OpenUSD / Isaac Sim 6.0.1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175504"/>
            <a:ext cx="4937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191E26"/>
                </a:solidFill>
                <a:latin typeface="Noto Sans CJK SC"/>
              </a:rPr>
              <a:t>20 网格、10 刚体、9 物理关节、6 可动自由度；60 步 PhysX 状态有限。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4901184"/>
            <a:ext cx="493776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12B46"/>
                </a:solidFill>
                <a:latin typeface="Noto Sans CJK SC"/>
              </a:rPr>
              <a:t>MuJoCo 3.10.0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5175504"/>
            <a:ext cx="4937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191E26"/>
                </a:solidFill>
                <a:latin typeface="Noto Sans CJK SC"/>
              </a:rPr>
              <a:t>robot.xml / scene.xml 各 500 步、无数值警告；固定基座和执行器跟踪限制仍在。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70448"/>
            <a:ext cx="106070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BE343A"/>
                </a:solidFill>
                <a:latin typeface="Noto Sans CJK SC"/>
              </a:rPr>
              <a:t>不能从这两段可用性视频推断可靠驾驶、物理保真或控制器质量。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457200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5D6975"/>
                </a:solidFill>
                <a:latin typeface="Noto Sans CJK SC"/>
              </a:rPr>
              <a:t>OSRACER · 证据化直播材料  |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27432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>
                <a:solidFill>
                  <a:srgbClr val="2478BE"/>
                </a:solidFill>
                <a:latin typeface="Noto Sans CJK SC"/>
              </a:rPr>
              <a:t>EXPERIMENT CONTRACT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9728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191E26"/>
                </a:solidFill>
                <a:latin typeface="Noto Sans CJK SC"/>
              </a:rPr>
              <a:t>我们用受限的主动观测，而不是全局定位来闭环竞速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72768"/>
            <a:ext cx="11155680" cy="22860"/>
          </a:xfrm>
          <a:prstGeom prst="rect">
            <a:avLst/>
          </a:prstGeom>
          <a:solidFill>
            <a:srgbClr val="2478BE"/>
          </a:solidFill>
          <a:ln>
            <a:solidFill>
              <a:srgbClr val="247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965960"/>
            <a:ext cx="2788920" cy="1691640"/>
          </a:xfrm>
          <a:prstGeom prst="roundRect">
            <a:avLst/>
          </a:prstGeom>
          <a:solidFill>
            <a:srgbClr val="EBF3F9"/>
          </a:solidFill>
          <a:ln>
            <a:solidFill>
              <a:srgbClr val="247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240280"/>
            <a:ext cx="24231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1">
                <a:solidFill>
                  <a:srgbClr val="112B46"/>
                </a:solidFill>
                <a:latin typeface="Noto Sans CJK SC"/>
              </a:rPr>
              <a:t>15 Hz laser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651760"/>
            <a:ext cx="24231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191E26"/>
                </a:solidFill>
                <a:latin typeface="Noto Sans CJK SC"/>
              </a:rPr>
              <a:t>laser 坐标系
270° / 361 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41648" y="1965960"/>
            <a:ext cx="2788920" cy="1691640"/>
          </a:xfrm>
          <a:prstGeom prst="roundRect">
            <a:avLst/>
          </a:prstGeom>
          <a:solidFill>
            <a:srgbClr val="EBF3F9"/>
          </a:solidFill>
          <a:ln>
            <a:solidFill>
              <a:srgbClr val="247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24528" y="2240280"/>
            <a:ext cx="24231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1">
                <a:solidFill>
                  <a:srgbClr val="112B46"/>
                </a:solidFill>
                <a:latin typeface="Noto Sans CJK SC"/>
              </a:rPr>
              <a:t>轮速 + 转角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24528" y="2651760"/>
            <a:ext cx="24231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191E26"/>
                </a:solidFill>
                <a:latin typeface="Noto Sans CJK SC"/>
              </a:rPr>
              <a:t>驱动状态与 Ackermann
转向几何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0" y="1965960"/>
            <a:ext cx="2788920" cy="1691640"/>
          </a:xfrm>
          <a:prstGeom prst="roundRect">
            <a:avLst/>
          </a:prstGeom>
          <a:solidFill>
            <a:srgbClr val="EBF3F9"/>
          </a:solidFill>
          <a:ln>
            <a:solidFill>
              <a:srgbClr val="247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79" y="2240280"/>
            <a:ext cx="24231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1">
                <a:solidFill>
                  <a:srgbClr val="112B46"/>
                </a:solidFill>
                <a:latin typeface="Noto Sans CJK SC"/>
              </a:rPr>
              <a:t>策略 + 安全层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2651760"/>
            <a:ext cx="24231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191E26"/>
                </a:solidFill>
                <a:latin typeface="Noto Sans CJK SC"/>
              </a:rPr>
              <a:t>预测、超车、漂移
碰撞与出界许可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2487168"/>
            <a:ext cx="3200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500" b="1">
                <a:solidFill>
                  <a:srgbClr val="2478BE"/>
                </a:solidFill>
                <a:latin typeface="Noto Sans CJK SC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76288" y="2487168"/>
            <a:ext cx="3200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500" b="1">
                <a:solidFill>
                  <a:srgbClr val="2478BE"/>
                </a:solidFill>
                <a:latin typeface="Noto Sans CJK SC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251960"/>
            <a:ext cx="201168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2478BE"/>
                </a:solidFill>
                <a:latin typeface="Noto Sans CJK SC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" y="4233672"/>
            <a:ext cx="10186416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191E26"/>
                </a:solidFill>
                <a:latin typeface="Noto Sans CJK SC"/>
              </a:rPr>
              <a:t>双车闭环：有效整圈、完整超越、碰撞、出界、连续侧滑均进入同一验证口径。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800600"/>
            <a:ext cx="201168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2478BE"/>
                </a:solidFill>
                <a:latin typeface="Noto Sans CJK SC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" y="4782312"/>
            <a:ext cx="10186416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191E26"/>
                </a:solidFill>
                <a:latin typeface="Noto Sans CJK SC"/>
              </a:rPr>
              <a:t>不使用全局位置；录像、轨迹和独立审计必须相互对应。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510528"/>
            <a:ext cx="457200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5D6975"/>
                </a:solidFill>
                <a:latin typeface="Noto Sans CJK SC"/>
              </a:rPr>
              <a:t>OSRACER · 证据化直播材料  |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27432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>
                <a:solidFill>
                  <a:srgbClr val="2478BE"/>
                </a:solidFill>
                <a:latin typeface="Noto Sans CJK SC"/>
              </a:rPr>
              <a:t>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9728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191E26"/>
                </a:solidFill>
                <a:latin typeface="Noto Sans CJK SC"/>
              </a:rPr>
              <a:t>通过不是跑起来：必须同时满足 5 个可审计条件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72768"/>
            <a:ext cx="11155680" cy="22860"/>
          </a:xfrm>
          <a:prstGeom prst="rect">
            <a:avLst/>
          </a:prstGeom>
          <a:solidFill>
            <a:srgbClr val="2478BE"/>
          </a:solidFill>
          <a:ln>
            <a:solidFill>
              <a:srgbClr val="247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333756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247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167128"/>
            <a:ext cx="4114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2478BE"/>
                </a:solidFill>
                <a:latin typeface="Noto Sans CJK S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2130552"/>
            <a:ext cx="23774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191E26"/>
                </a:solidFill>
                <a:latin typeface="Noto Sans CJK SC"/>
              </a:rPr>
              <a:t>有效整圈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587752"/>
            <a:ext cx="28346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5D6975"/>
                </a:solidFill>
                <a:latin typeface="Noto Sans CJK SC"/>
              </a:rPr>
              <a:t>完整回到终点且无判定失败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965960"/>
            <a:ext cx="333756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247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0288" y="2167128"/>
            <a:ext cx="4114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2478BE"/>
                </a:solidFill>
                <a:latin typeface="Noto Sans CJK SC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02352" y="2130552"/>
            <a:ext cx="23774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191E26"/>
                </a:solidFill>
                <a:latin typeface="Noto Sans CJK SC"/>
              </a:rPr>
              <a:t>有效超车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587752"/>
            <a:ext cx="28346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5D6975"/>
                </a:solidFill>
                <a:latin typeface="Noto Sans CJK SC"/>
              </a:rPr>
              <a:t>完整超越，不把名次抖动算进去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59" y="1965960"/>
            <a:ext cx="333756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247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39327" y="2167128"/>
            <a:ext cx="4114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2478BE"/>
                </a:solidFill>
                <a:latin typeface="Noto Sans CJK SC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51391" y="2130552"/>
            <a:ext cx="23774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191E26"/>
                </a:solidFill>
                <a:latin typeface="Noto Sans CJK SC"/>
              </a:rPr>
              <a:t>连续漂移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59" y="2587752"/>
            <a:ext cx="28346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5D6975"/>
                </a:solidFill>
                <a:latin typeface="Noto Sans CJK SC"/>
              </a:rPr>
              <a:t>侧滑角与持续时间达标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566160"/>
            <a:ext cx="333756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247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3767328"/>
            <a:ext cx="4114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2478BE"/>
                </a:solidFill>
                <a:latin typeface="Noto Sans CJK SC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53312" y="3730752"/>
            <a:ext cx="23774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191E26"/>
                </a:solidFill>
                <a:latin typeface="Noto Sans CJK SC"/>
              </a:rPr>
              <a:t>轨迹审计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187952"/>
            <a:ext cx="28346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5D6975"/>
                </a:solidFill>
                <a:latin typeface="Noto Sans CJK SC"/>
              </a:rPr>
              <a:t>独立校验每回合状态与统计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89120" y="3566160"/>
            <a:ext cx="333756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247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90288" y="3767328"/>
            <a:ext cx="4114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2478BE"/>
                </a:solidFill>
                <a:latin typeface="Noto Sans CJK SC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02352" y="3730752"/>
            <a:ext cx="23774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191E26"/>
                </a:solidFill>
                <a:latin typeface="Noto Sans CJK SC"/>
              </a:rPr>
              <a:t>原生录像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7720" y="4187952"/>
            <a:ext cx="28346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5D6975"/>
                </a:solidFill>
                <a:latin typeface="Noto Sans CJK SC"/>
              </a:rPr>
              <a:t>同一标签下可解码、可回放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532120"/>
            <a:ext cx="103327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BE343A"/>
                </a:solidFill>
                <a:latin typeface="Noto Sans CJK SC"/>
              </a:rPr>
              <a:t>“加载模型”“单个成功视频”或“测试通过”都不能替代整圈资格。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510528"/>
            <a:ext cx="457200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5D6975"/>
                </a:solidFill>
                <a:latin typeface="Noto Sans CJK SC"/>
              </a:rPr>
              <a:t>OSRACER · 证据化直播材料  |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27432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>
                <a:solidFill>
                  <a:srgbClr val="2478BE"/>
                </a:solidFill>
                <a:latin typeface="Noto Sans CJK SC"/>
              </a:rPr>
              <a:t>RACING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9728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191E26"/>
                </a:solidFill>
                <a:latin typeface="Noto Sans CJK SC"/>
              </a:rPr>
              <a:t>冻结 v10c：MuJoCo 24/24，Isaac 22/24；差异被保留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72768"/>
            <a:ext cx="11155680" cy="22860"/>
          </a:xfrm>
          <a:prstGeom prst="rect">
            <a:avLst/>
          </a:prstGeom>
          <a:solidFill>
            <a:srgbClr val="2478BE"/>
          </a:solidFill>
          <a:ln>
            <a:solidFill>
              <a:srgbClr val="247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21945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91E26"/>
                </a:solidFill>
                <a:latin typeface="Noto Sans CJK SC"/>
              </a:rPr>
              <a:t>MuJoCo · 7.25 m/s · 24 赛道</a:t>
            </a:r>
          </a:p>
        </p:txBody>
      </p:sp>
      <p:sp>
        <p:nvSpPr>
          <p:cNvPr id="6" name="Rectangle 5"/>
          <p:cNvSpPr/>
          <p:nvPr/>
        </p:nvSpPr>
        <p:spPr>
          <a:xfrm>
            <a:off x="3017520" y="2167128"/>
            <a:ext cx="5029200" cy="201168"/>
          </a:xfrm>
          <a:prstGeom prst="rect">
            <a:avLst/>
          </a:prstGeom>
          <a:solidFill>
            <a:srgbClr val="E2E7EC"/>
          </a:solidFill>
          <a:ln>
            <a:solidFill>
              <a:srgbClr val="E2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17520" y="2167128"/>
            <a:ext cx="5029200" cy="201168"/>
          </a:xfrm>
          <a:prstGeom prst="rect">
            <a:avLst/>
          </a:prstGeom>
          <a:solidFill>
            <a:srgbClr val="00998E"/>
          </a:solidFill>
          <a:ln>
            <a:solidFill>
              <a:srgbClr val="009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83879" y="2121408"/>
            <a:ext cx="7315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400" b="1">
                <a:solidFill>
                  <a:srgbClr val="00998E"/>
                </a:solidFill>
                <a:latin typeface="Noto Sans CJK SC"/>
              </a:rPr>
              <a:t>24/24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34640"/>
            <a:ext cx="21945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91E26"/>
                </a:solidFill>
                <a:latin typeface="Noto Sans CJK SC"/>
              </a:rPr>
              <a:t>Isaac · 7.25 m/s · 24 赛道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17520" y="2852928"/>
            <a:ext cx="5029200" cy="201168"/>
          </a:xfrm>
          <a:prstGeom prst="rect">
            <a:avLst/>
          </a:prstGeom>
          <a:solidFill>
            <a:srgbClr val="E2E7EC"/>
          </a:solidFill>
          <a:ln>
            <a:solidFill>
              <a:srgbClr val="E2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017520" y="2852928"/>
            <a:ext cx="4610100" cy="201168"/>
          </a:xfrm>
          <a:prstGeom prst="rect">
            <a:avLst/>
          </a:prstGeom>
          <a:solidFill>
            <a:srgbClr val="2478BE"/>
          </a:solidFill>
          <a:ln>
            <a:solidFill>
              <a:srgbClr val="247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79" y="2807208"/>
            <a:ext cx="7315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400" b="1">
                <a:solidFill>
                  <a:srgbClr val="2478BE"/>
                </a:solidFill>
                <a:latin typeface="Noto Sans CJK SC"/>
              </a:rPr>
              <a:t>22/24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794760"/>
            <a:ext cx="21945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300" b="1">
                <a:solidFill>
                  <a:srgbClr val="2478BE"/>
                </a:solidFill>
                <a:latin typeface="Noto Sans CJK SC"/>
              </a:rPr>
              <a:t>174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325112"/>
            <a:ext cx="228600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D6975"/>
                </a:solidFill>
                <a:latin typeface="Noto Sans CJK SC"/>
              </a:rPr>
              <a:t>已审计回合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3794760"/>
            <a:ext cx="21945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300" b="1">
                <a:solidFill>
                  <a:srgbClr val="00998E"/>
                </a:solidFill>
                <a:latin typeface="Noto Sans CJK SC"/>
              </a:rPr>
              <a:t>141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4325112"/>
            <a:ext cx="228600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D6975"/>
                </a:solidFill>
                <a:latin typeface="Noto Sans CJK SC"/>
              </a:rPr>
              <a:t>任务成功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3794760"/>
            <a:ext cx="21945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300" b="1">
                <a:solidFill>
                  <a:srgbClr val="D95A34"/>
                </a:solidFill>
                <a:latin typeface="Noto Sans CJK SC"/>
              </a:rPr>
              <a:t>48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4325112"/>
            <a:ext cx="228600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D6975"/>
                </a:solidFill>
                <a:latin typeface="Noto Sans CJK SC"/>
              </a:rPr>
              <a:t>同批双引擎录像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80" y="2057400"/>
            <a:ext cx="2834640" cy="3154680"/>
          </a:xfrm>
          <a:prstGeom prst="roundRect">
            <a:avLst/>
          </a:prstGeom>
          <a:solidFill>
            <a:srgbClr val="FFF4F0"/>
          </a:solidFill>
          <a:ln>
            <a:solidFill>
              <a:srgbClr val="D95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41080" y="2359152"/>
            <a:ext cx="22860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D95A34"/>
                </a:solidFill>
                <a:latin typeface="Noto Sans CJK SC"/>
              </a:rPr>
              <a:t>Isaac 的两条失败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13648" y="2880360"/>
            <a:ext cx="201168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2478BE"/>
                </a:solidFill>
                <a:latin typeface="Noto Sans CJK SC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51392" y="2862072"/>
            <a:ext cx="2048256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191E26"/>
                </a:solidFill>
                <a:latin typeface="Noto Sans CJK SC"/>
              </a:rPr>
              <a:t>Spa：起步车车接触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13648" y="3493008"/>
            <a:ext cx="201168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2478BE"/>
                </a:solidFill>
                <a:latin typeface="Noto Sans CJK SC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51392" y="3474720"/>
            <a:ext cx="2048256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191E26"/>
                </a:solidFill>
                <a:latin typeface="Noto Sans CJK SC"/>
              </a:rPr>
              <a:t>Suzuka：桥面段车身失稳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4343400"/>
            <a:ext cx="21488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BE343A"/>
                </a:solidFill>
                <a:latin typeface="Noto Sans CJK SC"/>
              </a:rPr>
              <a:t>所以不能称 Isaac 全赛道完成。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510528"/>
            <a:ext cx="457200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5D6975"/>
                </a:solidFill>
                <a:latin typeface="Noto Sans CJK SC"/>
              </a:rPr>
              <a:t>OSRACER · 证据化直播材料  |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27432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>
                <a:solidFill>
                  <a:srgbClr val="2478BE"/>
                </a:solidFill>
                <a:latin typeface="Noto Sans CJK SC"/>
              </a:rPr>
              <a:t>LAP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9728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191E26"/>
                </a:solidFill>
                <a:latin typeface="Noto Sans CJK SC"/>
              </a:rPr>
              <a:t>9.0 m/s 刷新最快圈速，但 Isaac 的稳定性付出了代价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72768"/>
            <a:ext cx="11155680" cy="22860"/>
          </a:xfrm>
          <a:prstGeom prst="rect">
            <a:avLst/>
          </a:prstGeom>
          <a:solidFill>
            <a:srgbClr val="2478BE"/>
          </a:solidFill>
          <a:ln>
            <a:solidFill>
              <a:srgbClr val="247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57400"/>
            <a:ext cx="21945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91E26"/>
                </a:solidFill>
                <a:latin typeface="Noto Sans CJK SC"/>
              </a:rPr>
              <a:t>MuJoCo · 9.0 m/s</a:t>
            </a:r>
          </a:p>
        </p:txBody>
      </p:sp>
      <p:sp>
        <p:nvSpPr>
          <p:cNvPr id="6" name="Rectangle 5"/>
          <p:cNvSpPr/>
          <p:nvPr/>
        </p:nvSpPr>
        <p:spPr>
          <a:xfrm>
            <a:off x="3017520" y="2075688"/>
            <a:ext cx="5029200" cy="201168"/>
          </a:xfrm>
          <a:prstGeom prst="rect">
            <a:avLst/>
          </a:prstGeom>
          <a:solidFill>
            <a:srgbClr val="E2E7EC"/>
          </a:solidFill>
          <a:ln>
            <a:solidFill>
              <a:srgbClr val="E2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17520" y="2075688"/>
            <a:ext cx="5029200" cy="201168"/>
          </a:xfrm>
          <a:prstGeom prst="rect">
            <a:avLst/>
          </a:prstGeom>
          <a:solidFill>
            <a:srgbClr val="00998E"/>
          </a:solidFill>
          <a:ln>
            <a:solidFill>
              <a:srgbClr val="009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83879" y="2029968"/>
            <a:ext cx="7315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400" b="1">
                <a:solidFill>
                  <a:srgbClr val="00998E"/>
                </a:solidFill>
                <a:latin typeface="Noto Sans CJK SC"/>
              </a:rPr>
              <a:t>24/24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21945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91E26"/>
                </a:solidFill>
                <a:latin typeface="Noto Sans CJK SC"/>
              </a:rPr>
              <a:t>Isaac · 9.0 m/s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17520" y="2715768"/>
            <a:ext cx="5029200" cy="201168"/>
          </a:xfrm>
          <a:prstGeom prst="rect">
            <a:avLst/>
          </a:prstGeom>
          <a:solidFill>
            <a:srgbClr val="E2E7EC"/>
          </a:solidFill>
          <a:ln>
            <a:solidFill>
              <a:srgbClr val="E2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017520" y="2715768"/>
            <a:ext cx="4190999" cy="201168"/>
          </a:xfrm>
          <a:prstGeom prst="rect">
            <a:avLst/>
          </a:prstGeom>
          <a:solidFill>
            <a:srgbClr val="2478BE"/>
          </a:solidFill>
          <a:ln>
            <a:solidFill>
              <a:srgbClr val="247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79" y="2670048"/>
            <a:ext cx="7315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400" b="1">
                <a:solidFill>
                  <a:srgbClr val="2478BE"/>
                </a:solidFill>
                <a:latin typeface="Noto Sans CJK SC"/>
              </a:rPr>
              <a:t>20/24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703320"/>
            <a:ext cx="21945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300" b="1">
                <a:solidFill>
                  <a:srgbClr val="00998E"/>
                </a:solidFill>
                <a:latin typeface="Noto Sans CJK SC"/>
              </a:rPr>
              <a:t>8.97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233672"/>
            <a:ext cx="228600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D6975"/>
                </a:solidFill>
                <a:latin typeface="Noto Sans CJK SC"/>
              </a:rPr>
              <a:t>Mu 峰值 m/s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3703320"/>
            <a:ext cx="21945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300" b="1">
                <a:solidFill>
                  <a:srgbClr val="2478BE"/>
                </a:solidFill>
                <a:latin typeface="Noto Sans CJK SC"/>
              </a:rPr>
              <a:t>9.00–9.04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4233672"/>
            <a:ext cx="228600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D6975"/>
                </a:solidFill>
                <a:latin typeface="Noto Sans CJK SC"/>
              </a:rPr>
              <a:t>Isaac 峰值 m/s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0" y="3703320"/>
            <a:ext cx="21945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300" b="1">
                <a:solidFill>
                  <a:srgbClr val="D95A34"/>
                </a:solidFill>
                <a:latin typeface="Noto Sans CJK SC"/>
              </a:rPr>
              <a:t>1.5–10.4%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0" y="4233672"/>
            <a:ext cx="228600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D6975"/>
                </a:solidFill>
                <a:latin typeface="Noto Sans CJK SC"/>
              </a:rPr>
              <a:t>Mu 单圈加速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074920"/>
            <a:ext cx="103784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191E26"/>
                </a:solidFill>
                <a:latin typeface="Noto Sans CJK SC"/>
              </a:rPr>
              <a:t>MuJoCo：24 条赛道均快于 7.25 m/s 基线。Isaac：20 条可比赛道均更快，但新增 Austin、Las Vegas 停滞，Spa/Suzuka 仍失败。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715000"/>
            <a:ext cx="103784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BE343A"/>
                </a:solidFill>
                <a:latin typeface="Noto Sans CJK SC"/>
              </a:rPr>
              <a:t>工程结论：共享冻结配置维持 7.25 m/s；9.0 m/s 是 MuJoCo 速度榜，不是跨引擎稳定配置。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510528"/>
            <a:ext cx="457200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5D6975"/>
                </a:solidFill>
                <a:latin typeface="Noto Sans CJK SC"/>
              </a:rPr>
              <a:t>OSRACER · 证据化直播材料  |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27432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>
                <a:solidFill>
                  <a:srgbClr val="2478BE"/>
                </a:solidFill>
                <a:latin typeface="Noto Sans CJK SC"/>
              </a:rPr>
              <a:t>OVERTAKE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9728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191E26"/>
                </a:solidFill>
                <a:latin typeface="Noto Sans CJK SC"/>
              </a:rPr>
              <a:t>主动超车已计入整圈资格，但只在明确的对手条件下成立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72768"/>
            <a:ext cx="11155680" cy="22860"/>
          </a:xfrm>
          <a:prstGeom prst="rect">
            <a:avLst/>
          </a:prstGeom>
          <a:solidFill>
            <a:srgbClr val="2478BE"/>
          </a:solidFill>
          <a:ln>
            <a:solidFill>
              <a:srgbClr val="247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ahrain_c03v10c_dev24_see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74519"/>
            <a:ext cx="5394960" cy="3154680"/>
          </a:xfrm>
          <a:prstGeom prst="rect">
            <a:avLst/>
          </a:prstGeom>
        </p:spPr>
      </p:pic>
      <p:pic>
        <p:nvPicPr>
          <p:cNvPr id="6" name="Picture 5" descr="bahrain_c03v10c_dev24_seed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0488" y="1874519"/>
            <a:ext cx="5349240" cy="3154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138928"/>
            <a:ext cx="36576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00998E"/>
                </a:solidFill>
                <a:latin typeface="Noto Sans CJK SC"/>
              </a:rPr>
              <a:t>MuJoCo Bahrain：代表样例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5138928"/>
            <a:ext cx="36576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2478BE"/>
                </a:solidFill>
                <a:latin typeface="Noto Sans CJK SC"/>
              </a:rPr>
              <a:t>Isaac Bahrain：代表样例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596128"/>
            <a:ext cx="10652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191E26"/>
                </a:solidFill>
                <a:latin typeface="Noto Sans CJK SC"/>
              </a:rPr>
              <a:t>默认对手：同类传感器策略、巡航 2.8 m/s、发车领先 3 m。每条有效圈的“1 次”是完整超越，不代表对高速对手或任意初始位置的能力。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10528"/>
            <a:ext cx="457200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5D6975"/>
                </a:solidFill>
                <a:latin typeface="Noto Sans CJK SC"/>
              </a:rPr>
              <a:t>OSRACER · 证据化直播材料  |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27432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>
                <a:solidFill>
                  <a:srgbClr val="2478BE"/>
                </a:solidFill>
                <a:latin typeface="Noto Sans CJK SC"/>
              </a:rPr>
              <a:t>DRIFT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9728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191E26"/>
                </a:solidFill>
                <a:latin typeface="Noto Sans CJK SC"/>
              </a:rPr>
              <a:t>180° 回头弯：仿真有漂移样例，但当前实车等效动作空间不支持它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72768"/>
            <a:ext cx="11155680" cy="22860"/>
          </a:xfrm>
          <a:prstGeom prst="rect">
            <a:avLst/>
          </a:prstGeom>
          <a:solidFill>
            <a:srgbClr val="2478BE"/>
          </a:solidFill>
          <a:ln>
            <a:solidFill>
              <a:srgbClr val="247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ujoco_fast_peak_sl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28800"/>
            <a:ext cx="5257800" cy="3246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92240" y="2148840"/>
            <a:ext cx="21945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300" b="1">
                <a:solidFill>
                  <a:srgbClr val="00998E"/>
                </a:solidFill>
                <a:latin typeface="Noto Sans CJK SC"/>
              </a:rPr>
              <a:t>27.0°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2679192"/>
            <a:ext cx="228600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D6975"/>
                </a:solidFill>
                <a:latin typeface="Noto Sans CJK SC"/>
              </a:rPr>
              <a:t>后轮增速 3.5：最大侧滑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2148840"/>
            <a:ext cx="21945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300" b="1">
                <a:solidFill>
                  <a:srgbClr val="BE343A"/>
                </a:solidFill>
                <a:latin typeface="Noto Sans CJK SC"/>
              </a:rPr>
              <a:t>4.36°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2679192"/>
            <a:ext cx="228600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D6975"/>
                </a:solidFill>
                <a:latin typeface="Noto Sans CJK SC"/>
              </a:rPr>
              <a:t>后轮增速 0：最大侧滑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3429000"/>
            <a:ext cx="45720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91E26"/>
                </a:solidFill>
                <a:latin typeface="Noto Sans CJK SC"/>
              </a:rPr>
              <a:t>Interlagos A/B：0.133 s 漂移 → 0.0 s；当前策略的漂移 100% 来自后轮增速。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4114800"/>
            <a:ext cx="201168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2478BE"/>
                </a:solidFill>
                <a:latin typeface="Noto Sans CJK SC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9983" y="4096512"/>
            <a:ext cx="4242816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191E26"/>
                </a:solidFill>
                <a:latin typeface="Noto Sans CJK SC"/>
              </a:rPr>
              <a:t>这证实“在给定仿真执行器下”可做发卡弯漂移。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4663440"/>
            <a:ext cx="201168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2478BE"/>
                </a:solidFill>
                <a:latin typeface="Noto Sans CJK SC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9983" y="4645152"/>
            <a:ext cx="4242816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BE343A"/>
                </a:solidFill>
                <a:latin typeface="Noto Sans CJK SC"/>
              </a:rPr>
              <a:t>不证实单电机四驱实车能复现：其后轮增速等效为 0。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510528"/>
            <a:ext cx="457200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5D6975"/>
                </a:solidFill>
                <a:latin typeface="Noto Sans CJK SC"/>
              </a:rPr>
              <a:t>OSRACER · 证据化直播材料  |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27432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>
                <a:solidFill>
                  <a:srgbClr val="2478BE"/>
                </a:solidFill>
                <a:latin typeface="Noto Sans CJK SC"/>
              </a:rPr>
              <a:t>ROBUSTNESS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9728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191E26"/>
                </a:solidFill>
                <a:latin typeface="Noto Sans CJK SC"/>
              </a:rPr>
              <a:t>主动观测还不是鲁棒感知：组合扰动下 10/10 失败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72768"/>
            <a:ext cx="11155680" cy="22860"/>
          </a:xfrm>
          <a:prstGeom prst="rect">
            <a:avLst/>
          </a:prstGeom>
          <a:solidFill>
            <a:srgbClr val="2478BE"/>
          </a:solidFill>
          <a:ln>
            <a:solidFill>
              <a:srgbClr val="247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ahrain_c03v10c_sensor_perturb_seed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28800"/>
            <a:ext cx="5257800" cy="3246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92240" y="2148840"/>
            <a:ext cx="21945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300" b="1">
                <a:solidFill>
                  <a:srgbClr val="BE343A"/>
                </a:solidFill>
                <a:latin typeface="Noto Sans CJK SC"/>
              </a:rPr>
              <a:t>10/10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2679192"/>
            <a:ext cx="228600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D6975"/>
                </a:solidFill>
                <a:latin typeface="Noto Sans CJK SC"/>
              </a:rPr>
              <a:t>组合扰动失败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0" y="2148840"/>
            <a:ext cx="21945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300" b="1">
                <a:solidFill>
                  <a:srgbClr val="D95A34"/>
                </a:solidFill>
                <a:latin typeface="Noto Sans CJK SC"/>
              </a:rPr>
              <a:t>2.7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0" y="2679192"/>
            <a:ext cx="228600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D6975"/>
                </a:solidFill>
                <a:latin typeface="Noto Sans CJK SC"/>
              </a:rPr>
              <a:t>最早撞墙时间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3474720"/>
            <a:ext cx="201168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2478BE"/>
                </a:solidFill>
                <a:latin typeface="Noto Sans CJK SC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9983" y="3456432"/>
            <a:ext cx="4242816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191E26"/>
                </a:solidFill>
                <a:latin typeface="Noto Sans CJK SC"/>
              </a:rPr>
              <a:t>条件：噪声 0.02 m + 丢束 5% + 延迟 50 ms；5 赛道 × 2 种子。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4114800"/>
            <a:ext cx="201168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2478BE"/>
                </a:solidFill>
                <a:latin typeface="Noto Sans CJK SC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9983" y="4096512"/>
            <a:ext cx="4242816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191E26"/>
                </a:solidFill>
                <a:latin typeface="Noto Sans CJK SC"/>
              </a:rPr>
              <a:t>消融：噪声单独可过；丢束或延迟单独已致命。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4754880"/>
            <a:ext cx="201168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2478BE"/>
                </a:solidFill>
                <a:latin typeface="Noto Sans CJK SC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9983" y="4736592"/>
            <a:ext cx="4242816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BE343A"/>
                </a:solidFill>
                <a:latin typeface="Noto Sans CJK SC"/>
              </a:rPr>
              <a:t>根因：起步扫描匹配失败，进入 motion_estimate_unavailable 的盲车模式。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510528"/>
            <a:ext cx="457200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5D6975"/>
                </a:solidFill>
                <a:latin typeface="Noto Sans CJK SC"/>
              </a:rPr>
              <a:t>OSRACER · 证据化直播材料  |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27432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>
                <a:solidFill>
                  <a:srgbClr val="2478BE"/>
                </a:solidFill>
                <a:latin typeface="Noto Sans CJK SC"/>
              </a:rPr>
              <a:t>SIM-TO-REAL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9728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191E26"/>
                </a:solidFill>
                <a:latin typeface="Noto Sans CJK SC"/>
              </a:rPr>
              <a:t>实车路线先恢复可观测性，再谈极限操控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72768"/>
            <a:ext cx="11155680" cy="22860"/>
          </a:xfrm>
          <a:prstGeom prst="rect">
            <a:avLst/>
          </a:prstGeom>
          <a:solidFill>
            <a:srgbClr val="2478BE"/>
          </a:solidFill>
          <a:ln>
            <a:solidFill>
              <a:srgbClr val="247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2057400"/>
            <a:ext cx="2487168" cy="2606040"/>
          </a:xfrm>
          <a:prstGeom prst="roundRect">
            <a:avLst/>
          </a:prstGeom>
          <a:solidFill>
            <a:srgbClr val="FFFFFF"/>
          </a:solidFill>
          <a:ln>
            <a:solidFill>
              <a:srgbClr val="247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286000"/>
            <a:ext cx="32004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2478BE"/>
                </a:solidFill>
                <a:latin typeface="Noto Sans CJK S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697480"/>
            <a:ext cx="2029968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191E26"/>
                </a:solidFill>
                <a:latin typeface="Noto Sans CJK SC"/>
              </a:rPr>
              <a:t>转向标定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246120"/>
            <a:ext cx="20299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5D6975"/>
                </a:solidFill>
                <a:latin typeface="Noto Sans CJK SC"/>
              </a:rPr>
              <a:t>舵机指令→左右轮实际角
含 Ackermann 差动、滞后、速率限幅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93008" y="2057400"/>
            <a:ext cx="2487168" cy="2606040"/>
          </a:xfrm>
          <a:prstGeom prst="roundRect">
            <a:avLst/>
          </a:prstGeom>
          <a:solidFill>
            <a:srgbClr val="FFFFFF"/>
          </a:solidFill>
          <a:ln>
            <a:solidFill>
              <a:srgbClr val="247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94176" y="2286000"/>
            <a:ext cx="32004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2478BE"/>
                </a:solidFill>
                <a:latin typeface="Noto Sans CJK SC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94176" y="2697480"/>
            <a:ext cx="2029968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191E26"/>
                </a:solidFill>
                <a:latin typeface="Noto Sans CJK SC"/>
              </a:rPr>
              <a:t>补转向反馈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94176" y="3246120"/>
            <a:ext cx="20299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5D6975"/>
                </a:solidFill>
                <a:latin typeface="Noto Sans CJK SC"/>
              </a:rPr>
              <a:t>电位计/绝对编码器
让安全前瞻使用实测转角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45936" y="2057400"/>
            <a:ext cx="2487168" cy="2606040"/>
          </a:xfrm>
          <a:prstGeom prst="roundRect">
            <a:avLst/>
          </a:prstGeom>
          <a:solidFill>
            <a:srgbClr val="FFFFFF"/>
          </a:solidFill>
          <a:ln>
            <a:solidFill>
              <a:srgbClr val="247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47104" y="2286000"/>
            <a:ext cx="32004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2478BE"/>
                </a:solidFill>
                <a:latin typeface="Noto Sans CJK SC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697480"/>
            <a:ext cx="2029968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191E26"/>
                </a:solidFill>
                <a:latin typeface="Noto Sans CJK SC"/>
              </a:rPr>
              <a:t>分级上线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7104" y="3246120"/>
            <a:ext cx="20299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5D6975"/>
                </a:solidFill>
                <a:latin typeface="Noto Sans CJK SC"/>
              </a:rPr>
              <a:t>shadow 回放→台架→低速→逐级提速
每级留 rosbag/日志/圈速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98863" y="2057400"/>
            <a:ext cx="2487168" cy="2606040"/>
          </a:xfrm>
          <a:prstGeom prst="roundRect">
            <a:avLst/>
          </a:prstGeom>
          <a:solidFill>
            <a:srgbClr val="FFFFFF"/>
          </a:solidFill>
          <a:ln>
            <a:solidFill>
              <a:srgbClr val="247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00032" y="2286000"/>
            <a:ext cx="32004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2478BE"/>
                </a:solidFill>
                <a:latin typeface="Noto Sans CJK SC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00032" y="2697480"/>
            <a:ext cx="2029968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191E26"/>
                </a:solidFill>
                <a:latin typeface="Noto Sans CJK SC"/>
              </a:rPr>
              <a:t>漂移动作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00032" y="3246120"/>
            <a:ext cx="20299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5D6975"/>
                </a:solidFill>
                <a:latin typeface="Noto Sans CJK SC"/>
              </a:rPr>
              <a:t>接受不漂移，或新增独立后轮/手刹，或重训制动转移行为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257800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BE343A"/>
                </a:solidFill>
                <a:latin typeface="Noto Sans CJK SC"/>
              </a:rPr>
              <a:t>不要跳过阶段：两条“real”观测仿真初测有效，不等价于任何实车运行。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510528"/>
            <a:ext cx="457200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5D6975"/>
                </a:solidFill>
                <a:latin typeface="Noto Sans CJK SC"/>
              </a:rPr>
              <a:t>OSRACER · 证据化直播材料  |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27432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>
                <a:solidFill>
                  <a:srgbClr val="2478BE"/>
                </a:solidFill>
                <a:latin typeface="Noto Sans CJK SC"/>
              </a:rPr>
              <a:t>CLOSE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9728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191E26"/>
                </a:solidFill>
                <a:latin typeface="Noto Sans CJK SC"/>
              </a:rPr>
              <a:t>可交付的是可复现证据；未闭合的问题也已被清楚定位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72768"/>
            <a:ext cx="11155680" cy="22860"/>
          </a:xfrm>
          <a:prstGeom prst="rect">
            <a:avLst/>
          </a:prstGeom>
          <a:solidFill>
            <a:srgbClr val="2478BE"/>
          </a:solidFill>
          <a:ln>
            <a:solidFill>
              <a:srgbClr val="247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3017520" cy="2423160"/>
          </a:xfrm>
          <a:prstGeom prst="roundRect">
            <a:avLst/>
          </a:prstGeom>
          <a:solidFill>
            <a:srgbClr val="FFFFFF"/>
          </a:solidFill>
          <a:ln>
            <a:solidFill>
              <a:srgbClr val="009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313432"/>
            <a:ext cx="24688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00998E"/>
                </a:solidFill>
                <a:latin typeface="Noto Sans CJK SC"/>
              </a:rPr>
              <a:t>已完成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852928"/>
            <a:ext cx="242316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91E26"/>
                </a:solidFill>
                <a:latin typeface="Noto Sans CJK SC"/>
              </a:rPr>
              <a:t>资产加载/渲染/短程步进
双引擎录像与审计
Mu 24/24 整圈+超车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60520" y="2011680"/>
            <a:ext cx="3017520" cy="2423160"/>
          </a:xfrm>
          <a:prstGeom prst="roundRect">
            <a:avLst/>
          </a:prstGeom>
          <a:solidFill>
            <a:srgbClr val="FFFFFF"/>
          </a:solidFill>
          <a:ln>
            <a:solidFill>
              <a:srgbClr val="247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2313432"/>
            <a:ext cx="24688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2478BE"/>
                </a:solidFill>
                <a:latin typeface="Noto Sans CJK SC"/>
              </a:rPr>
              <a:t>部分完成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2852928"/>
            <a:ext cx="242316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91E26"/>
                </a:solidFill>
                <a:latin typeface="Noto Sans CJK SC"/>
              </a:rPr>
              <a:t>Isaac 22/24（7.25 m/s）
9.0 m/s 速度榜
留出种子证据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0" y="2011680"/>
            <a:ext cx="3017520" cy="2423160"/>
          </a:xfrm>
          <a:prstGeom prst="roundRect">
            <a:avLst/>
          </a:prstGeom>
          <a:solidFill>
            <a:srgbClr val="FFFFFF"/>
          </a:solidFill>
          <a:ln>
            <a:solidFill>
              <a:srgbClr val="D95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20" y="2313432"/>
            <a:ext cx="24688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D95A34"/>
                </a:solidFill>
                <a:latin typeface="Noto Sans CJK SC"/>
              </a:rPr>
              <a:t>下一步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852928"/>
            <a:ext cx="242316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91E26"/>
                </a:solidFill>
                <a:latin typeface="Noto Sans CJK SC"/>
              </a:rPr>
              <a:t>扰动鲁棒扫描匹配
Isaac 桥接触 / 起步接触
转向反馈与漂移动作选择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166360"/>
            <a:ext cx="106984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12B46"/>
                </a:solidFill>
                <a:latin typeface="Noto Sans CJK SC"/>
              </a:rPr>
              <a:t>观看录像、复跑命令、结果口径：docs/RELEASE.md · docs/VALIDATION_STATUS.md · output/racing/media.html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715000"/>
            <a:ext cx="1042416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191E26"/>
                </a:solidFill>
                <a:latin typeface="Noto Sans CJK SC"/>
              </a:rPr>
              <a:t>谢谢。欢迎质疑结论，但请连同实验条件一起质疑。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510528"/>
            <a:ext cx="457200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5D6975"/>
                </a:solidFill>
                <a:latin typeface="Noto Sans CJK SC"/>
              </a:rPr>
              <a:t>OSRACER · 证据化直播材料  | 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